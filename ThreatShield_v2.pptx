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15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503920" y="0"/>
            <a:ext cx="640080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94360"/>
            <a:ext cx="2011680" cy="29260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CYBERSECURITY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4048" y="1005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ThreatShield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384048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99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Insider Threat Detection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ML-based tool that automatically detects malicious insider threats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analyzing employee behavioral data — with risk scoring &amp; threat classification.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547872"/>
            <a:ext cx="1691640" cy="8686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547872"/>
            <a:ext cx="1691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3547872"/>
            <a:ext cx="1691640" cy="8686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31720" y="3547872"/>
            <a:ext cx="1691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77440" y="3950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51960" y="3547872"/>
            <a:ext cx="1691640" cy="8686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547872"/>
            <a:ext cx="1691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0" y="3950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743200" cy="320040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417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3529584"/>
            <a:ext cx="164592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0B16"/>
          </a:solidFill>
          <a:ln w="12700">
            <a:solidFill>
              <a:srgbClr val="060B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Harita Patil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Detection  ·  ML  ·  Cybersecurity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ThreatShield?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1133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ThreatShield is an ML-powered web application that automatically identifies malicious insider behavior within an organization by analyzing employee behavioral and activity-based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160520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24128"/>
            <a:ext cx="4160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22392" y="1133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Employees' data — including department, campus, position, login patterns, file access, off-hours activity, and travel — is processed through a trained Random Forest model that returns binary predictions and probability-based risk scores.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4160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7552" y="3081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classifies each employee as Safe or Malicious, assigns a Risk Score (0–100%), and categorizes the threat as LOW, MEDIUM, or HIGH — displayed on an interactive Streamlit dashboard.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4160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22392" y="3081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5204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teams, HR departments, and enterprise IT administrators who need automated, data-driven threat intelligence without the need for manual log review.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— and How ThreatShield Solves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60520" cy="3840480"/>
          </a:xfrm>
          <a:prstGeom prst="rect">
            <a:avLst/>
          </a:prstGeom>
          <a:solidFill>
            <a:srgbClr val="150D0D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41605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THE 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005072" cy="566928"/>
          </a:xfrm>
          <a:prstGeom prst="rect">
            <a:avLst/>
          </a:prstGeom>
          <a:solidFill>
            <a:srgbClr val="130D0D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554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manually review thousands of access logs — a slow, error-prone, and unscalable approach.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4005072" cy="566928"/>
          </a:xfrm>
          <a:prstGeom prst="rect">
            <a:avLst/>
          </a:prstGeom>
          <a:solidFill>
            <a:srgbClr val="110B0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203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often go undetected for months as subtle anomalies are hidden within large datasets.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005072" cy="566928"/>
          </a:xfrm>
          <a:prstGeom prst="rect">
            <a:avLst/>
          </a:prstGeom>
          <a:solidFill>
            <a:srgbClr val="130D0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852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Prioritization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scoring, analysts cannot prioritize which employees to investigate first.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4005072" cy="566928"/>
          </a:xfrm>
          <a:prstGeom prst="rect">
            <a:avLst/>
          </a:prstGeom>
          <a:solidFill>
            <a:srgbClr val="110B0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502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Negative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miss evolving threat patterns that don't match predefined signatures.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105656"/>
            <a:ext cx="4005072" cy="566928"/>
          </a:xfrm>
          <a:prstGeom prst="rect">
            <a:avLst/>
          </a:prstGeom>
          <a:solidFill>
            <a:srgbClr val="130D0D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151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Intensive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security analysts are expensive; smaller orgs have no viable insider-threat monitoring option.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983480" y="987552"/>
            <a:ext cx="3886200" cy="3840480"/>
          </a:xfrm>
          <a:prstGeom prst="rect">
            <a:avLst/>
          </a:prstGeom>
          <a:solidFill>
            <a:srgbClr val="0B150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987552"/>
            <a:ext cx="388620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0058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OUR SOLUTION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47488" y="1508760"/>
            <a:ext cx="3730752" cy="566928"/>
          </a:xfrm>
          <a:prstGeom prst="rect">
            <a:avLst/>
          </a:prstGeom>
          <a:solidFill>
            <a:srgbClr val="0C1A07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1554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ML Detection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38928" y="1755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trained on labeled employee data automatically flags malicious behavior with high accuracy.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47488" y="2157984"/>
            <a:ext cx="3730752" cy="566928"/>
          </a:xfrm>
          <a:prstGeom prst="rect">
            <a:avLst/>
          </a:prstGeom>
          <a:solidFill>
            <a:srgbClr val="0A1605"/>
          </a:solidFill>
          <a:ln/>
        </p:spPr>
      </p:sp>
      <p:sp>
        <p:nvSpPr>
          <p:cNvPr id="31" name="Text 29"/>
          <p:cNvSpPr/>
          <p:nvPr/>
        </p:nvSpPr>
        <p:spPr>
          <a:xfrm>
            <a:off x="5138928" y="22037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38928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receives a probability-based Risk Score (0–100%) enabling instant prioritization.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47488" y="2807208"/>
            <a:ext cx="3730752" cy="566928"/>
          </a:xfrm>
          <a:prstGeom prst="rect">
            <a:avLst/>
          </a:prstGeom>
          <a:solidFill>
            <a:srgbClr val="0C1A07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2852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Classification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38928" y="3054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are classified as LOW, MEDIUM, or HIGH risk — color-coded for fast visual triage.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47488" y="3456432"/>
            <a:ext cx="3730752" cy="566928"/>
          </a:xfrm>
          <a:prstGeom prst="rect">
            <a:avLst/>
          </a:prstGeom>
          <a:solidFill>
            <a:srgbClr val="0A1605"/>
          </a:solidFill>
          <a:ln/>
        </p:spPr>
      </p:sp>
      <p:sp>
        <p:nvSpPr>
          <p:cNvPr id="37" name="Text 35"/>
          <p:cNvSpPr/>
          <p:nvPr/>
        </p:nvSpPr>
        <p:spPr>
          <a:xfrm>
            <a:off x="5138928" y="3502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38928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provides upload, preview, detection table, summary stats, and distribution charts in one place.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47488" y="4105656"/>
            <a:ext cx="3730752" cy="566928"/>
          </a:xfrm>
          <a:prstGeom prst="rect">
            <a:avLst/>
          </a:prstGeom>
          <a:solidFill>
            <a:srgbClr val="0C1A07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41513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Cost-Effective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38928" y="4352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prediction allows any organization to analyze hundreds of employees in seconds, no analyst needed.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 in ThreatShield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88920" cy="457200"/>
          </a:xfrm>
          <a:prstGeom prst="rect">
            <a:avLst/>
          </a:prstGeom>
          <a:solidFill>
            <a:srgbClr val="0EA5E9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 /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536192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36192"/>
            <a:ext cx="64008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6276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" y="1938528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0116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Python web app framework for the dashboard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706624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06624"/>
            <a:ext cx="64008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79806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" y="3108960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1821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 generation for threat level distribution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877056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877056"/>
            <a:ext cx="64008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968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" y="4279392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3525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 and data exploration plots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88920" cy="457200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27832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ML / Data Science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27832" y="1536192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1536192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6276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2424" y="1938528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20116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training, prediction, and evaluation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7832" y="2706624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706624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279806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92424" y="3108960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1821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preprocessing, and manipulation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27832" y="3877056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27832" y="3877056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3968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92424" y="4279392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43525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and array processing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88920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99632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Dev Environment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99632" y="1536192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1536192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16276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64224" y="1938528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20116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 for all modules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2706624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99632" y="2706624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279806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64224" y="3108960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318211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model prototyping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99632" y="3877056"/>
            <a:ext cx="2788920" cy="10515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3877056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3968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64224" y="4279392"/>
            <a:ext cx="248716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435254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 for development and debugging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" y="4773168"/>
            <a:ext cx="8631936" cy="246888"/>
          </a:xfrm>
          <a:prstGeom prst="rect">
            <a:avLst/>
          </a:prstGeom>
          <a:solidFill>
            <a:srgbClr val="111E35"/>
          </a:solidFill>
          <a:ln/>
        </p:spPr>
      </p:sp>
      <p:sp>
        <p:nvSpPr>
          <p:cNvPr id="57" name="Text 55"/>
          <p:cNvSpPr/>
          <p:nvPr/>
        </p:nvSpPr>
        <p:spPr>
          <a:xfrm>
            <a:off x="256032" y="4773168"/>
            <a:ext cx="8631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 Upload CSV  →  Preprocess  →  Predict  →  Score  →  Visualize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Features, and ML Algorithm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06240" cy="40233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0624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784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Dataset for Corporate Environments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|  Target column: is_malicious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4041648" cy="137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29968"/>
            <a:ext cx="4005072" cy="310896"/>
          </a:xfrm>
          <a:prstGeom prst="rect">
            <a:avLst/>
          </a:prstGeom>
          <a:solidFill>
            <a:srgbClr val="0E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54580"/>
            <a:ext cx="4005072" cy="310896"/>
          </a:xfrm>
          <a:prstGeom prst="rect">
            <a:avLst/>
          </a:prstGeom>
          <a:solidFill>
            <a:srgbClr val="0A1722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24094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employee_department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4094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business unit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79192"/>
            <a:ext cx="4005072" cy="310896"/>
          </a:xfrm>
          <a:prstGeom prst="rect">
            <a:avLst/>
          </a:prstGeom>
          <a:solidFill>
            <a:srgbClr val="0D1E2C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employee_campus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7340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campus location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03804"/>
            <a:ext cx="4005072" cy="310896"/>
          </a:xfrm>
          <a:prstGeom prst="rect">
            <a:avLst/>
          </a:prstGeom>
          <a:solidFill>
            <a:srgbClr val="0A1722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0586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employee_position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0586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designation / role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4005072" cy="310896"/>
          </a:xfrm>
          <a:prstGeom prst="rect">
            <a:avLst/>
          </a:prstGeom>
          <a:solidFill>
            <a:srgbClr val="0D1E2C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employee_seniority_years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work experience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53028"/>
            <a:ext cx="4005072" cy="310896"/>
          </a:xfrm>
          <a:prstGeom prst="rect">
            <a:avLst/>
          </a:prstGeom>
          <a:solidFill>
            <a:srgbClr val="0A1722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37078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login_behavior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37078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/ unusual login patterns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4005072" cy="310896"/>
          </a:xfrm>
          <a:prstGeom prst="rect">
            <a:avLst/>
          </a:prstGeom>
          <a:solidFill>
            <a:srgbClr val="0D1E2C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4032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file_access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4032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 access indicators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302252"/>
            <a:ext cx="4005072" cy="310896"/>
          </a:xfrm>
          <a:prstGeom prst="rect">
            <a:avLst/>
          </a:prstGeom>
          <a:solidFill>
            <a:srgbClr val="0A1722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43571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43571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activity data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626864"/>
            <a:ext cx="4005072" cy="310896"/>
          </a:xfrm>
          <a:prstGeom prst="rect">
            <a:avLst/>
          </a:prstGeom>
          <a:solidFill>
            <a:srgbClr val="0D1E2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4681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is_malicious (target)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6817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Safe  /  1 = Malicious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960120"/>
            <a:ext cx="4160520" cy="402336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96012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97840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 ML MODEL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73168" y="1444752"/>
            <a:ext cx="4005072" cy="393192"/>
          </a:xfrm>
          <a:prstGeom prst="rect">
            <a:avLst/>
          </a:prstGeom>
          <a:solidFill>
            <a:srgbClr val="121E35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1508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10528" y="1508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1888236"/>
            <a:ext cx="4005072" cy="393192"/>
          </a:xfrm>
          <a:prstGeom prst="rect">
            <a:avLst/>
          </a:prstGeom>
          <a:solidFill>
            <a:srgbClr val="0E1A2E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19522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 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10528" y="19522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(Supervised)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2331720"/>
            <a:ext cx="4005072" cy="393192"/>
          </a:xfrm>
          <a:prstGeom prst="rect">
            <a:avLst/>
          </a:prstGeom>
          <a:solidFill>
            <a:srgbClr val="121E35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23957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Values 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10528" y="23957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Safe  /  1 = Malicious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3168" y="2775204"/>
            <a:ext cx="4005072" cy="393192"/>
          </a:xfrm>
          <a:prstGeom prst="rect">
            <a:avLst/>
          </a:prstGeom>
          <a:solidFill>
            <a:srgbClr val="0E1A2E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8392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10528" y="28392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→ Risk Score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3218688"/>
            <a:ext cx="4005072" cy="393192"/>
          </a:xfrm>
          <a:prstGeom prst="rect">
            <a:avLst/>
          </a:prstGeom>
          <a:solidFill>
            <a:srgbClr val="121E35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32826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LOW 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10528" y="3282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 probability of malicious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73168" y="3662172"/>
            <a:ext cx="4005072" cy="393192"/>
          </a:xfrm>
          <a:prstGeom prst="rect">
            <a:avLst/>
          </a:prstGeom>
          <a:solidFill>
            <a:srgbClr val="0E1A2E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37261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MED 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10528" y="37261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80% probability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73168" y="4105656"/>
            <a:ext cx="4005072" cy="393192"/>
          </a:xfrm>
          <a:prstGeom prst="rect">
            <a:avLst/>
          </a:prstGeom>
          <a:solidFill>
            <a:srgbClr val="121E35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4169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HIGH :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10528" y="4169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probability of malicious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73168" y="4549140"/>
            <a:ext cx="4005072" cy="393192"/>
          </a:xfrm>
          <a:prstGeom prst="rect">
            <a:avLst/>
          </a:prstGeom>
          <a:solidFill>
            <a:srgbClr val="0E1A2E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0" y="461314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10528" y="46131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/ joblib (.pkl)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73168" y="4572000"/>
            <a:ext cx="4005072" cy="347472"/>
          </a:xfrm>
          <a:prstGeom prst="rect">
            <a:avLst/>
          </a:prstGeom>
          <a:solidFill>
            <a:srgbClr val="1A2040"/>
          </a:solidFill>
          <a:ln/>
        </p:spPr>
      </p:sp>
      <p:sp>
        <p:nvSpPr>
          <p:cNvPr id="66" name="Text 64"/>
          <p:cNvSpPr/>
          <p:nvPr/>
        </p:nvSpPr>
        <p:spPr>
          <a:xfrm>
            <a:off x="4773168" y="457200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Handles mixed/categorical features  ·  Robust to noise  ·  Probability output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— How We Built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98064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475488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133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EDA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from Kaggle CSV. Perform exploratory data analysis: check dtypes, value counts, class distribution, and visualize feature correlations.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6976" y="1005840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1005840"/>
            <a:ext cx="279806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115568"/>
            <a:ext cx="47548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22776" y="1133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46704" y="157276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duplicate records. Apply one-hot encoding to categorical columns. Normalize/standardize numerical features where required.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98064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115568"/>
            <a:ext cx="475488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11155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1338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27648" y="157276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input features (X) from target variable (y = is_malicious). Identify high-importance features. Ensure consistent column ordering for inference.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999232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999232"/>
            <a:ext cx="279806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08960"/>
            <a:ext cx="475488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1089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80/20 into train/test sets. Train a Random Forest Classifier. Tune hyperparameters. Evaluate with accuracy, precision, recall, and F1 score.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36976" y="2999232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36976" y="2999232"/>
            <a:ext cx="2798064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3108960"/>
            <a:ext cx="475488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3346704" y="31089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22776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Scoring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46704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predict() for binary labels. Run predict_proba() to generate probability-based Risk Scores (0–100%). Map probabilities to LOW / MEDIUM / HIGH threat levels.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2999232"/>
            <a:ext cx="2798064" cy="17830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999232"/>
            <a:ext cx="2798064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3108960"/>
            <a:ext cx="475488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31089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27648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frontend with CSV upload, data preview, detection table, summary metrics, and Matplotlib/Seaborn charts. Deploy locally with streamlit run.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User Interface Walkthrough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206240" cy="216712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42062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42416"/>
            <a:ext cx="4059936" cy="1819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29169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CSV Upload Interface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81728" y="987552"/>
            <a:ext cx="4206240" cy="216712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987552"/>
            <a:ext cx="42062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42416"/>
            <a:ext cx="4059936" cy="1819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9169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Uploaded Data Preview Table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" y="2999232"/>
            <a:ext cx="4206240" cy="216712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6032" y="2999232"/>
            <a:ext cx="42062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3054096"/>
            <a:ext cx="4059936" cy="1819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" y="49286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Detection Results — Color-Coded Risk Table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81728" y="2999232"/>
            <a:ext cx="4206240" cy="216712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81728" y="2999232"/>
            <a:ext cx="42062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054096"/>
            <a:ext cx="4059936" cy="1819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81728" y="49286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Threat Level Distribution Chart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Pipeline — Architecture &amp; 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892040" cy="84124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64008" cy="8412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051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 Module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135331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uploaded file via Pandas. Validates column schema and strips invalid/empty rows before downstream processing begins.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965960"/>
            <a:ext cx="4892040" cy="84124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965960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2688" y="2029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23317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one-hot encoding to all categorical variables. Aligns feature column order to match the training-time schema before inference.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944368"/>
            <a:ext cx="4892040" cy="84124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94436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" y="30083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331012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serialized .pkl model. Runs predict() for binary output and predict_proba()[:,1] for per-employee malicious probability score.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922776"/>
            <a:ext cx="4892040" cy="841248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922776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688" y="3986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2688" y="4288536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probability to threat level: HIGH (&gt;80%), MEDIUM (50–80%), LOW (&lt;50%). Sorts results by risk score descending for triage.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960120"/>
            <a:ext cx="3493008" cy="397764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960120"/>
            <a:ext cx="349300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97840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1463040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532120" y="1463040"/>
            <a:ext cx="54864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1499616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1783080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83664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2120" y="1883664"/>
            <a:ext cx="54864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1920240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Read with Pandas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2203704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32120" y="2304288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37" name="Shape 35"/>
          <p:cNvSpPr/>
          <p:nvPr/>
        </p:nvSpPr>
        <p:spPr>
          <a:xfrm>
            <a:off x="5532120" y="2304288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2340864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Features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2624328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32120" y="2724912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41" name="Shape 39"/>
          <p:cNvSpPr/>
          <p:nvPr/>
        </p:nvSpPr>
        <p:spPr>
          <a:xfrm>
            <a:off x="5532120" y="2724912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761488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RF Model (.pkl)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32120" y="3044952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32120" y="3145536"/>
            <a:ext cx="3218688" cy="32004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45" name="Shape 43"/>
          <p:cNvSpPr/>
          <p:nvPr/>
        </p:nvSpPr>
        <p:spPr>
          <a:xfrm>
            <a:off x="5532120" y="3145536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182112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+ predict_proba()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32120" y="3465576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32120" y="3566160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49" name="Shape 47"/>
          <p:cNvSpPr/>
          <p:nvPr/>
        </p:nvSpPr>
        <p:spPr>
          <a:xfrm>
            <a:off x="5532120" y="356616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50992" y="3602736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 Score (%)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32120" y="3886200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532120" y="3986784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53" name="Shape 51"/>
          <p:cNvSpPr/>
          <p:nvPr/>
        </p:nvSpPr>
        <p:spPr>
          <a:xfrm>
            <a:off x="5532120" y="3986784"/>
            <a:ext cx="54864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4023360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Threat Level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532120" y="4306824"/>
            <a:ext cx="3218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▼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532120" y="4407408"/>
            <a:ext cx="3218688" cy="320040"/>
          </a:xfrm>
          <a:prstGeom prst="rect">
            <a:avLst/>
          </a:prstGeom>
          <a:solidFill>
            <a:srgbClr val="13202E"/>
          </a:solidFill>
          <a:ln/>
        </p:spPr>
      </p:sp>
      <p:sp>
        <p:nvSpPr>
          <p:cNvPr id="57" name="Shape 55"/>
          <p:cNvSpPr/>
          <p:nvPr/>
        </p:nvSpPr>
        <p:spPr>
          <a:xfrm>
            <a:off x="5532120" y="4407408"/>
            <a:ext cx="54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443984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 Results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Evaluation — Random Forest Classifier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920240" cy="1078992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1920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960120"/>
            <a:ext cx="1920240" cy="1078992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960120"/>
            <a:ext cx="19202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32304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32304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malicious out of flagged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20240" cy="1078992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96012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08576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08576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threats identified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960120"/>
            <a:ext cx="1920240" cy="1078992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960120"/>
            <a:ext cx="1920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84848" y="1609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84848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 &amp; 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148840"/>
            <a:ext cx="4160520" cy="26974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148840"/>
            <a:ext cx="41605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1671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777240" cy="347472"/>
          </a:xfrm>
          <a:prstGeom prst="rect">
            <a:avLst/>
          </a:prstGeom>
          <a:solidFill>
            <a:srgbClr val="0E2A14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" y="26700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4712" y="2606040"/>
            <a:ext cx="777240" cy="347472"/>
          </a:xfrm>
          <a:prstGeom prst="rect">
            <a:avLst/>
          </a:prstGeom>
          <a:solidFill>
            <a:srgbClr val="0E2A14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26700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929384" y="2606040"/>
            <a:ext cx="777240" cy="347472"/>
          </a:xfrm>
          <a:prstGeom prst="rect">
            <a:avLst/>
          </a:prstGeom>
          <a:solidFill>
            <a:srgbClr val="0E2A14"/>
          </a:solidFill>
          <a:ln/>
        </p:spPr>
      </p:sp>
      <p:sp>
        <p:nvSpPr>
          <p:cNvPr id="33" name="Text 31"/>
          <p:cNvSpPr/>
          <p:nvPr/>
        </p:nvSpPr>
        <p:spPr>
          <a:xfrm>
            <a:off x="1947672" y="26700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34056" y="2606040"/>
            <a:ext cx="777240" cy="347472"/>
          </a:xfrm>
          <a:prstGeom prst="rect">
            <a:avLst/>
          </a:prstGeom>
          <a:solidFill>
            <a:srgbClr val="0E2A14"/>
          </a:solidFill>
          <a:ln/>
        </p:spPr>
      </p:sp>
      <p:sp>
        <p:nvSpPr>
          <p:cNvPr id="35" name="Text 33"/>
          <p:cNvSpPr/>
          <p:nvPr/>
        </p:nvSpPr>
        <p:spPr>
          <a:xfrm>
            <a:off x="2752344" y="26700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38728" y="2606040"/>
            <a:ext cx="777240" cy="347472"/>
          </a:xfrm>
          <a:prstGeom prst="rect">
            <a:avLst/>
          </a:prstGeom>
          <a:solidFill>
            <a:srgbClr val="0E2A14"/>
          </a:solidFill>
          <a:ln/>
        </p:spPr>
      </p:sp>
      <p:sp>
        <p:nvSpPr>
          <p:cNvPr id="37" name="Text 35"/>
          <p:cNvSpPr/>
          <p:nvPr/>
        </p:nvSpPr>
        <p:spPr>
          <a:xfrm>
            <a:off x="3557016" y="26700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2980944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" y="304495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(0)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124712" y="2980944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304495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29384" y="2980944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43" name="Text 41"/>
          <p:cNvSpPr/>
          <p:nvPr/>
        </p:nvSpPr>
        <p:spPr>
          <a:xfrm>
            <a:off x="1947672" y="304495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34056" y="2980944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45" name="Text 43"/>
          <p:cNvSpPr/>
          <p:nvPr/>
        </p:nvSpPr>
        <p:spPr>
          <a:xfrm>
            <a:off x="2752344" y="304495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538728" y="2980944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47" name="Text 45"/>
          <p:cNvSpPr/>
          <p:nvPr/>
        </p:nvSpPr>
        <p:spPr>
          <a:xfrm>
            <a:off x="3557016" y="304495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3355848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" y="3419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(1)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24712" y="3355848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51" name="Text 49"/>
          <p:cNvSpPr/>
          <p:nvPr/>
        </p:nvSpPr>
        <p:spPr>
          <a:xfrm>
            <a:off x="1143000" y="3419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929384" y="3355848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53" name="Text 51"/>
          <p:cNvSpPr/>
          <p:nvPr/>
        </p:nvSpPr>
        <p:spPr>
          <a:xfrm>
            <a:off x="1947672" y="3419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34056" y="3355848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55" name="Text 53"/>
          <p:cNvSpPr/>
          <p:nvPr/>
        </p:nvSpPr>
        <p:spPr>
          <a:xfrm>
            <a:off x="2752344" y="3419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538728" y="3355848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57" name="Text 55"/>
          <p:cNvSpPr/>
          <p:nvPr/>
        </p:nvSpPr>
        <p:spPr>
          <a:xfrm>
            <a:off x="3557016" y="3419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3730752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" y="379476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124712" y="3730752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61" name="Text 59"/>
          <p:cNvSpPr/>
          <p:nvPr/>
        </p:nvSpPr>
        <p:spPr>
          <a:xfrm>
            <a:off x="1143000" y="379476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929384" y="3730752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63" name="Text 61"/>
          <p:cNvSpPr/>
          <p:nvPr/>
        </p:nvSpPr>
        <p:spPr>
          <a:xfrm>
            <a:off x="1947672" y="379476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34056" y="3730752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65" name="Text 63"/>
          <p:cNvSpPr/>
          <p:nvPr/>
        </p:nvSpPr>
        <p:spPr>
          <a:xfrm>
            <a:off x="2752344" y="379476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538728" y="3730752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67" name="Text 65"/>
          <p:cNvSpPr/>
          <p:nvPr/>
        </p:nvSpPr>
        <p:spPr>
          <a:xfrm>
            <a:off x="3557016" y="379476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105656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69" name="Text 67"/>
          <p:cNvSpPr/>
          <p:nvPr/>
        </p:nvSpPr>
        <p:spPr>
          <a:xfrm>
            <a:off x="338328" y="41696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124712" y="4105656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71" name="Text 69"/>
          <p:cNvSpPr/>
          <p:nvPr/>
        </p:nvSpPr>
        <p:spPr>
          <a:xfrm>
            <a:off x="1143000" y="41696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29384" y="4105656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73" name="Text 71"/>
          <p:cNvSpPr/>
          <p:nvPr/>
        </p:nvSpPr>
        <p:spPr>
          <a:xfrm>
            <a:off x="1947672" y="41696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34056" y="4105656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75" name="Text 73"/>
          <p:cNvSpPr/>
          <p:nvPr/>
        </p:nvSpPr>
        <p:spPr>
          <a:xfrm>
            <a:off x="2752344" y="41696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538728" y="4105656"/>
            <a:ext cx="777240" cy="347472"/>
          </a:xfrm>
          <a:prstGeom prst="rect">
            <a:avLst/>
          </a:prstGeom>
          <a:solidFill>
            <a:srgbClr val="0D1E12"/>
          </a:solidFill>
          <a:ln/>
        </p:spPr>
      </p:sp>
      <p:sp>
        <p:nvSpPr>
          <p:cNvPr id="77" name="Text 75"/>
          <p:cNvSpPr/>
          <p:nvPr/>
        </p:nvSpPr>
        <p:spPr>
          <a:xfrm>
            <a:off x="3557016" y="41696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0040" y="4480560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79" name="Text 77"/>
          <p:cNvSpPr/>
          <p:nvPr/>
        </p:nvSpPr>
        <p:spPr>
          <a:xfrm>
            <a:off x="338328" y="45445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124712" y="4480560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81" name="Text 79"/>
          <p:cNvSpPr/>
          <p:nvPr/>
        </p:nvSpPr>
        <p:spPr>
          <a:xfrm>
            <a:off x="1143000" y="45445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929384" y="4480560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83" name="Text 81"/>
          <p:cNvSpPr/>
          <p:nvPr/>
        </p:nvSpPr>
        <p:spPr>
          <a:xfrm>
            <a:off x="1947672" y="45445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734056" y="4480560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85" name="Text 83"/>
          <p:cNvSpPr/>
          <p:nvPr/>
        </p:nvSpPr>
        <p:spPr>
          <a:xfrm>
            <a:off x="2752344" y="45445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538728" y="4480560"/>
            <a:ext cx="777240" cy="347472"/>
          </a:xfrm>
          <a:prstGeom prst="rect">
            <a:avLst/>
          </a:prstGeom>
          <a:solidFill>
            <a:srgbClr val="0A1910"/>
          </a:solidFill>
          <a:ln/>
        </p:spPr>
      </p:sp>
      <p:sp>
        <p:nvSpPr>
          <p:cNvPr id="87" name="Text 85"/>
          <p:cNvSpPr/>
          <p:nvPr/>
        </p:nvSpPr>
        <p:spPr>
          <a:xfrm>
            <a:off x="3557016" y="45445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2148840"/>
            <a:ext cx="4206240" cy="269748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663440" y="2148840"/>
            <a:ext cx="420624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63440" y="21671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Distribution — Live Demo</a:t>
            </a:r>
            <a:endParaRPr lang="en-US" sz="1200" dirty="0"/>
          </a:p>
        </p:txBody>
      </p:sp>
      <p:pic>
        <p:nvPicPr>
          <p:cNvPr id="9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06040"/>
            <a:ext cx="402336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&amp;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87952" cy="182880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4187952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33856"/>
            <a:ext cx="475488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1338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645920"/>
            <a:ext cx="3913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enterprise SIEM platforms (Splunk, ELK Stack, Azure Sentinel) for continuous ingestion of live employee access logs, email activity, and network telemetry — replacing batch CSV uploads with streaming threat detection.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1005840"/>
            <a:ext cx="4187952" cy="182880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005840"/>
            <a:ext cx="418795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5464" y="1133856"/>
            <a:ext cx="47548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1338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982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98464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 — XGBoost &amp; Deep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55464" y="1645920"/>
            <a:ext cx="3913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Random Forest with XGBoost or LSTM-based models to capture temporal behavioral patterns. Ensemble methods will improve recall for edge-case insider threats that simple classifiers miss.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017520"/>
            <a:ext cx="4187952" cy="182880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017520"/>
            <a:ext cx="418795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145536"/>
            <a:ext cx="47548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1455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36192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&amp; Incident 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3657600"/>
            <a:ext cx="3913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/ Slack / SMS notification triggers on HIGH-risk detection events. Integrate with ITSM platforms (Jira, ServiceNow) to auto-create incident tickets and escalation workflows for security analysts.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3017520"/>
            <a:ext cx="4187952" cy="1828800"/>
          </a:xfrm>
          <a:prstGeom prst="rect">
            <a:avLst/>
          </a:prstGeom>
          <a:solidFill>
            <a:srgbClr val="111E35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3017520"/>
            <a:ext cx="41879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5464" y="3145536"/>
            <a:ext cx="475488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1455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9824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98464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&amp; Compliance Reporting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5464" y="3657600"/>
            <a:ext cx="3913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and LIME libraries to explain individual predictions — showing which employee features drove the risk score. Generate automated audit-ready PDF compliance reports for regulatory bodies.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320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000000"/>
                </a:solidFill>
              </a:rPr>
              <a:t>🛡️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474720" y="2578608"/>
            <a:ext cx="21945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15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ThreatShield: Enterprise Insider Threat Detection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18211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71600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4526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1360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ThreatShield: Enterprise Insider Threat Detection Dashboard</dc:title>
  <dc:subject>PptxGenJS Presentation</dc:subject>
  <dc:creator>Harita Patil</dc:creator>
  <cp:lastModifiedBy>Harita Patil</cp:lastModifiedBy>
  <cp:revision>2</cp:revision>
  <dcterms:created xsi:type="dcterms:W3CDTF">2026-05-22T11:55:22Z</dcterms:created>
  <dcterms:modified xsi:type="dcterms:W3CDTF">2026-05-22T12:00:27Z</dcterms:modified>
</cp:coreProperties>
</file>